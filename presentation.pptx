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先说使用者和问题，不讲课程日名称代替问题。指出真实输入和产品边界。目标 30 秒。</a:t>
            </a:r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说明基线为何简单、候选只复杂哪一步，以及比较条件如何保持相同。目标 45 秒。</a:t>
            </a:r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只选择一条最能回答问题的证据。说出命令、指标含义和一个真实样本。目标 60 秒。</a:t>
            </a:r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用失败收尾，明确不能声称什么和下一项最小检查。不要说泛泛的“数据不够”。目标 45 秒。</a:t>
            </a:r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000" name="HeroNumber"/>
          <p:cNvSpPr/>
          <p:nvPr/>
        </p:nvSpPr>
        <p:spPr>
          <a:xfrm>
            <a:off x="720000" y="1080000"/>
            <a:ext cx="1800000" cy="1800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4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4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1" name="CoverTitle"/>
          <p:cNvSpPr txBox="1"/>
          <p:nvPr/>
        </p:nvSpPr>
        <p:spPr>
          <a:xfrm>
            <a:off x="2952000" y="1152000"/>
            <a:ext cx="8460000" cy="792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问题与使用者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2" name="CoverBody"/>
          <p:cNvSpPr txBox="1"/>
          <p:nvPr/>
        </p:nvSpPr>
        <p:spPr>
          <a:xfrm>
            <a:off x="2952000" y="2160000"/>
            <a:ext cx="7920000" cy="108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altLang="en-US" sz="2200" b="0">
                <a:solidFill>
                  <a:srgbClr val="D6F5EE"/>
                </a:solidFill>
                <a:latin typeface="微软雅黑" panose="020B0503020204020204" charset="-122"/>
                <a:ea typeface="微软雅黑" panose="020B0503020204020204" charset="-122"/>
              </a:rPr>
              <a:t>设施维护团队；照片分成 </a:t>
            </a:r>
            <a:r>
              <a:rPr lang="en-US" altLang="zh-CN" sz="2200" b="0">
                <a:solidFill>
                  <a:srgbClr val="D6F5EE"/>
                </a:solidFill>
                <a:latin typeface="微软雅黑" panose="020B0503020204020204" charset="-122"/>
                <a:ea typeface="微软雅黑" panose="020B0503020204020204" charset="-122"/>
              </a:rPr>
              <a:t>crack/no_crack </a:t>
            </a:r>
            <a:r>
              <a:rPr lang="zh-CN" altLang="en-US" sz="2200" b="0">
                <a:solidFill>
                  <a:srgbClr val="D6F5EE"/>
                </a:solidFill>
                <a:latin typeface="微软雅黑" panose="020B0503020204020204" charset="-122"/>
                <a:ea typeface="微软雅黑" panose="020B0503020204020204" charset="-122"/>
              </a:rPr>
              <a:t>优先人工复核；</a:t>
            </a:r>
            <a:r>
              <a:rPr lang="en-US" altLang="zh-CN" sz="2200" b="0">
                <a:solidFill>
                  <a:srgbClr val="D6F5EE"/>
                </a:solidFill>
                <a:latin typeface="微软雅黑" panose="020B0503020204020204" charset="-122"/>
                <a:ea typeface="微软雅黑" panose="020B0503020204020204" charset="-122"/>
              </a:rPr>
              <a:t>Kaggle </a:t>
            </a:r>
            <a:r>
              <a:rPr lang="zh-CN" altLang="en-US" sz="2200" b="0">
                <a:solidFill>
                  <a:srgbClr val="D6F5EE"/>
                </a:solidFill>
                <a:latin typeface="微软雅黑" panose="020B0503020204020204" charset="-122"/>
                <a:ea typeface="微软雅黑" panose="020B0503020204020204" charset="-122"/>
              </a:rPr>
              <a:t>各 20000 张；只用于人工复核。</a:t>
            </a:r>
            <a:endParaRPr lang="zh-CN" altLang="en-US" sz="2200" b="0">
              <a:solidFill>
                <a:srgbClr val="D6F5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3" name="CoverMeta"/>
          <p:cNvSpPr txBox="1"/>
          <p:nvPr/>
        </p:nvSpPr>
        <p:spPr>
          <a:xfrm>
            <a:off x="2952000" y="4572000"/>
            <a:ext cx="7200000" cy="36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1600" b="1">
                <a:solidFill>
                  <a:srgbClr val="8DDDD0"/>
                </a:solidFill>
                <a:latin typeface="微软雅黑" panose="020B0503020204020204" charset="-122"/>
                <a:ea typeface="微软雅黑" panose="020B0503020204020204" charset="-122"/>
              </a:rPr>
              <a:t>每日 3 分钟答辩 · 第 1 页约 30 秒</a:t>
            </a:r>
            <a:endParaRPr lang="zh-CN" sz="1600" b="1">
              <a:solidFill>
                <a:srgbClr val="8DDDD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004" name="Kicker"/>
          <p:cNvSpPr txBox="1"/>
          <p:nvPr/>
        </p:nvSpPr>
        <p:spPr>
          <a:xfrm>
            <a:off x="540000" y="252000"/>
            <a:ext cx="5400000" cy="288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1400" b="1">
                <a:solidFill>
                  <a:srgbClr val="028090"/>
                </a:solidFill>
                <a:latin typeface="微软雅黑" panose="020B0503020204020204" charset="-122"/>
                <a:ea typeface="微软雅黑" panose="020B0503020204020204" charset="-122"/>
              </a:rPr>
              <a:t>02 · 约 45 秒</a:t>
            </a:r>
            <a:endParaRPr lang="zh-CN" sz="1400" b="1">
              <a:solidFill>
                <a:srgbClr val="0280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5" name="Title"/>
          <p:cNvSpPr txBox="1"/>
          <p:nvPr/>
        </p:nvSpPr>
        <p:spPr>
          <a:xfrm>
            <a:off x="540000" y="558000"/>
            <a:ext cx="10980000" cy="756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3800" b="1">
                <a:solidFill>
                  <a:srgbClr val="183B45"/>
                </a:solidFill>
                <a:latin typeface="微软雅黑" panose="020B0503020204020204" charset="-122"/>
                <a:ea typeface="微软雅黑" panose="020B0503020204020204" charset="-122"/>
              </a:rPr>
              <a:t>方法与简单基线</a:t>
            </a:r>
            <a:endParaRPr lang="zh-CN" sz="3800" b="1">
              <a:solidFill>
                <a:srgbClr val="183B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6" name="PageMark"/>
          <p:cNvSpPr/>
          <p:nvPr/>
        </p:nvSpPr>
        <p:spPr>
          <a:xfrm>
            <a:off x="11232000" y="252000"/>
            <a:ext cx="396000" cy="396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7" name="Input"/>
          <p:cNvSpPr/>
          <p:nvPr/>
        </p:nvSpPr>
        <p:spPr>
          <a:xfrm>
            <a:off x="540000" y="2160000"/>
            <a:ext cx="2988000" cy="1800000"/>
          </a:xfrm>
          <a:prstGeom prst="roundRect">
            <a:avLst/>
          </a:prstGeom>
          <a:solidFill>
            <a:srgbClr val="D7F4EE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en-US" altLang="zh-CN" sz="2200" b="1">
                <a:solidFill>
                  <a:srgbClr val="123A3A"/>
                </a:solidFill>
                <a:latin typeface="微软雅黑" panose="020B0503020204020204" charset="-122"/>
                <a:ea typeface="微软雅黑" panose="020B0503020204020204" charset="-122"/>
              </a:rPr>
              <a:t>Kaggle </a:t>
            </a:r>
            <a:r>
              <a:rPr lang="zh-CN" altLang="en-US" sz="2200" b="1">
                <a:solidFill>
                  <a:srgbClr val="123A3A"/>
                </a:solidFill>
                <a:latin typeface="微软雅黑" panose="020B0503020204020204" charset="-122"/>
                <a:ea typeface="微软雅黑" panose="020B0503020204020204" charset="-122"/>
              </a:rPr>
              <a:t>数据检查通过</a:t>
            </a:r>
            <a:endParaRPr lang="zh-CN" altLang="en-US" sz="2200" b="1">
              <a:solidFill>
                <a:srgbClr val="123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8" name="Baseline"/>
          <p:cNvSpPr/>
          <p:nvPr/>
        </p:nvSpPr>
        <p:spPr>
          <a:xfrm>
            <a:off x="4572000" y="2160000"/>
            <a:ext cx="2988000" cy="1800000"/>
          </a:xfrm>
          <a:prstGeom prst="roundRect">
            <a:avLst/>
          </a:prstGeom>
          <a:solidFill>
            <a:srgbClr val="C9E8F2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en-US" sz="2200" b="1">
                <a:solidFill>
                  <a:srgbClr val="173F5F"/>
                </a:solidFill>
                <a:latin typeface="微软雅黑" panose="020B0503020204020204" charset="-122"/>
                <a:ea typeface="微软雅黑" panose="020B0503020204020204" charset="-122"/>
              </a:rPr>
              <a:t>总猜多数类</a:t>
            </a:r>
            <a:endParaRPr lang="zh-CN" altLang="en-US" sz="2200" b="1">
              <a:solidFill>
                <a:srgbClr val="173F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09" name="Candidate"/>
          <p:cNvSpPr/>
          <p:nvPr/>
        </p:nvSpPr>
        <p:spPr>
          <a:xfrm>
            <a:off x="8604000" y="2160000"/>
            <a:ext cx="2988000" cy="1800000"/>
          </a:xfrm>
          <a:prstGeom prst="roundRect">
            <a:avLst/>
          </a:prstGeom>
          <a:solidFill>
            <a:srgbClr val="FBE4C8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en-US" altLang="zh-CN" sz="2200" b="1">
                <a:solidFill>
                  <a:srgbClr val="6B3E16"/>
                </a:solidFill>
                <a:latin typeface="微软雅黑" panose="020B0503020204020204" charset="-122"/>
                <a:ea typeface="微软雅黑" panose="020B0503020204020204" charset="-122"/>
              </a:rPr>
              <a:t>SmallCNN 7 </a:t>
            </a:r>
            <a:r>
              <a:rPr lang="zh-CN" altLang="en-US" sz="2200" b="1">
                <a:solidFill>
                  <a:srgbClr val="6B3E16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lang="zh-CN" altLang="en-US" sz="2200" b="1">
              <a:solidFill>
                <a:srgbClr val="6B3E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0" name="MethodPrompt"/>
          <p:cNvSpPr txBox="1"/>
          <p:nvPr/>
        </p:nvSpPr>
        <p:spPr>
          <a:xfrm>
            <a:off x="1080000" y="4680000"/>
            <a:ext cx="10008000" cy="540000"/>
          </a:xfrm>
          <a:prstGeom prst="rect">
            <a:avLst/>
          </a:prstGeom>
        </p:spPr>
        <p:txBody>
          <a:bodyPr lIns="43200" tIns="43200" rIns="43200" bIns="43200" anchor="ctr">
            <a:normAutofit fontScale="70000"/>
          </a:bodyPr>
          <a:lstStyle/>
          <a:p>
            <a:pPr algn="ctr"/>
            <a:r>
              <a:rPr lang="zh-CN" altLang="en-US" sz="2000" b="0">
                <a:solidFill>
                  <a:srgbClr val="39545B"/>
                </a:solidFill>
                <a:latin typeface="微软雅黑" panose="020B0503020204020204" charset="-122"/>
                <a:ea typeface="微软雅黑" panose="020B0503020204020204" charset="-122"/>
              </a:rPr>
              <a:t>保持相同：</a:t>
            </a:r>
            <a:r>
              <a:rPr lang="en-US" altLang="zh-CN" sz="2000" b="0">
                <a:solidFill>
                  <a:srgbClr val="39545B"/>
                </a:solidFill>
                <a:latin typeface="微软雅黑" panose="020B0503020204020204" charset="-122"/>
                <a:ea typeface="微软雅黑" panose="020B0503020204020204" charset="-122"/>
              </a:rPr>
              <a:t>seed=2026、</a:t>
            </a:r>
            <a:r>
              <a:rPr lang="zh-CN" altLang="en-US" sz="2000" b="0">
                <a:solidFill>
                  <a:srgbClr val="39545B"/>
                </a:solidFill>
                <a:latin typeface="微软雅黑" panose="020B0503020204020204" charset="-122"/>
                <a:ea typeface="微软雅黑" panose="020B0503020204020204" charset="-122"/>
              </a:rPr>
              <a:t>每类 600 张、75/25 划分、同一批测试图、同一指标（</a:t>
            </a:r>
            <a:r>
              <a:rPr lang="en-US" altLang="zh-CN" sz="2000" b="0">
                <a:solidFill>
                  <a:srgbClr val="39545B"/>
                </a:solidFill>
                <a:latin typeface="微软雅黑" panose="020B0503020204020204" charset="-122"/>
                <a:ea typeface="微软雅黑" panose="020B0503020204020204" charset="-122"/>
              </a:rPr>
              <a:t>accuracy / crack_recall / </a:t>
            </a:r>
            <a:r>
              <a:rPr lang="zh-CN" altLang="en-US" sz="2000" b="0">
                <a:solidFill>
                  <a:srgbClr val="39545B"/>
                </a:solidFill>
                <a:latin typeface="微软雅黑" panose="020B0503020204020204" charset="-122"/>
                <a:ea typeface="微软雅黑" panose="020B0503020204020204" charset="-122"/>
              </a:rPr>
              <a:t>混淆矩阵）</a:t>
            </a:r>
            <a:endParaRPr lang="zh-CN" altLang="en-US" sz="2000" b="0">
              <a:solidFill>
                <a:srgbClr val="39545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011" name="Kicker"/>
          <p:cNvSpPr txBox="1"/>
          <p:nvPr/>
        </p:nvSpPr>
        <p:spPr>
          <a:xfrm>
            <a:off x="540000" y="252000"/>
            <a:ext cx="5400000" cy="288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1400" b="1">
                <a:solidFill>
                  <a:srgbClr val="028090"/>
                </a:solidFill>
                <a:latin typeface="微软雅黑" panose="020B0503020204020204" charset="-122"/>
                <a:ea typeface="微软雅黑" panose="020B0503020204020204" charset="-122"/>
              </a:rPr>
              <a:t>03 · 约 60 秒</a:t>
            </a:r>
            <a:endParaRPr lang="zh-CN" sz="1400" b="1">
              <a:solidFill>
                <a:srgbClr val="0280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2" name="Title"/>
          <p:cNvSpPr txBox="1"/>
          <p:nvPr/>
        </p:nvSpPr>
        <p:spPr>
          <a:xfrm>
            <a:off x="540000" y="558000"/>
            <a:ext cx="10980000" cy="756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3800" b="1">
                <a:solidFill>
                  <a:srgbClr val="183B45"/>
                </a:solidFill>
                <a:latin typeface="微软雅黑" panose="020B0503020204020204" charset="-122"/>
                <a:ea typeface="微软雅黑" panose="020B0503020204020204" charset="-122"/>
              </a:rPr>
              <a:t>一条最重要的证据</a:t>
            </a:r>
            <a:endParaRPr lang="zh-CN" sz="3800" b="1">
              <a:solidFill>
                <a:srgbClr val="183B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3" name="PageMark"/>
          <p:cNvSpPr/>
          <p:nvPr/>
        </p:nvSpPr>
        <p:spPr>
          <a:xfrm>
            <a:off x="11232000" y="252000"/>
            <a:ext cx="396000" cy="396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4" name="Metric"/>
          <p:cNvSpPr/>
          <p:nvPr/>
        </p:nvSpPr>
        <p:spPr>
          <a:xfrm>
            <a:off x="540000" y="1800000"/>
            <a:ext cx="5292000" cy="2268000"/>
          </a:xfrm>
          <a:prstGeom prst="roundRect">
            <a:avLst/>
          </a:prstGeom>
          <a:solidFill>
            <a:srgbClr val="183B45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ccuracy 0.5→0.8133、FP 150→13、FN 0→43</a:t>
            </a:r>
            <a:endParaRPr lang="en-US" alt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5" name="Case"/>
          <p:cNvSpPr/>
          <p:nvPr/>
        </p:nvSpPr>
        <p:spPr>
          <a:xfrm>
            <a:off x="6156000" y="1800000"/>
            <a:ext cx="5436000" cy="226800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en-US" altLang="zh-CN" sz="2200" b="1">
                <a:solidFill>
                  <a:srgbClr val="083B35"/>
                </a:solidFill>
                <a:latin typeface="微软雅黑" panose="020B0503020204020204" charset="-122"/>
                <a:ea typeface="微软雅黑" panose="020B0503020204020204" charset="-122"/>
              </a:rPr>
              <a:t>09570.jpg </a:t>
            </a:r>
            <a:r>
              <a:rPr lang="zh-CN" altLang="en-US" sz="2200" b="1">
                <a:solidFill>
                  <a:srgbClr val="083B35"/>
                </a:solidFill>
                <a:latin typeface="微软雅黑" panose="020B0503020204020204" charset="-122"/>
                <a:ea typeface="微软雅黑" panose="020B0503020204020204" charset="-122"/>
              </a:rPr>
              <a:t>漏检</a:t>
            </a:r>
            <a:endParaRPr lang="zh-CN" altLang="en-US" sz="2200" b="1">
              <a:solidFill>
                <a:srgbClr val="083B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6" name="EvidencePrompt"/>
          <p:cNvSpPr txBox="1"/>
          <p:nvPr/>
        </p:nvSpPr>
        <p:spPr>
          <a:xfrm>
            <a:off x="792000" y="4680000"/>
            <a:ext cx="10584000" cy="54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ctr"/>
            <a:endParaRPr lang="zh-CN" sz="2000" b="0">
              <a:solidFill>
                <a:srgbClr val="39545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017" name="EndTitle"/>
          <p:cNvSpPr txBox="1"/>
          <p:nvPr/>
        </p:nvSpPr>
        <p:spPr>
          <a:xfrm>
            <a:off x="540000" y="504000"/>
            <a:ext cx="10800000" cy="72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3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失败、限制与下一问题</a:t>
            </a:r>
            <a:endParaRPr lang="zh-CN" sz="3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8" name="Failure"/>
          <p:cNvSpPr/>
          <p:nvPr/>
        </p:nvSpPr>
        <p:spPr>
          <a:xfrm>
            <a:off x="540000" y="1800000"/>
            <a:ext cx="3456000" cy="2088000"/>
          </a:xfrm>
          <a:prstGeom prst="roundRect">
            <a:avLst/>
          </a:prstGeom>
          <a:solidFill>
            <a:srgbClr val="FBE4C8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en-US" sz="2100" b="1">
                <a:solidFill>
                  <a:srgbClr val="6B3E16"/>
                </a:solidFill>
                <a:latin typeface="微软雅黑" panose="020B0503020204020204" charset="-122"/>
                <a:ea typeface="微软雅黑" panose="020B0503020204020204" charset="-122"/>
              </a:rPr>
              <a:t>细浅低对比裂缝被漏检</a:t>
            </a:r>
            <a:endParaRPr lang="zh-CN" altLang="en-US" sz="2100" b="1">
              <a:solidFill>
                <a:srgbClr val="6B3E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19" name="Limit"/>
          <p:cNvSpPr/>
          <p:nvPr/>
        </p:nvSpPr>
        <p:spPr>
          <a:xfrm>
            <a:off x="4374000" y="1800000"/>
            <a:ext cx="3456000" cy="2088000"/>
          </a:xfrm>
          <a:prstGeom prst="roundRect">
            <a:avLst/>
          </a:prstGeom>
          <a:solidFill>
            <a:srgbClr val="D7F4EE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en-US" sz="2100" b="1">
                <a:solidFill>
                  <a:srgbClr val="123A3A"/>
                </a:solidFill>
                <a:latin typeface="微软雅黑" panose="020B0503020204020204" charset="-122"/>
                <a:ea typeface="微软雅黑" panose="020B0503020204020204" charset="-122"/>
              </a:rPr>
              <a:t>数据单一+泄漏风险</a:t>
            </a:r>
            <a:endParaRPr lang="zh-CN" altLang="en-US" sz="2100" b="1">
              <a:solidFill>
                <a:srgbClr val="123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20" name="Next"/>
          <p:cNvSpPr/>
          <p:nvPr/>
        </p:nvSpPr>
        <p:spPr>
          <a:xfrm>
            <a:off x="8208000" y="1800000"/>
            <a:ext cx="3456000" cy="2088000"/>
          </a:xfrm>
          <a:prstGeom prst="roundRect">
            <a:avLst/>
          </a:prstGeom>
          <a:solidFill>
            <a:srgbClr val="C9E8F2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en-US" sz="2100" b="1">
                <a:solidFill>
                  <a:srgbClr val="173F5F"/>
                </a:solidFill>
                <a:latin typeface="微软雅黑" panose="020B0503020204020204" charset="-122"/>
                <a:ea typeface="微软雅黑" panose="020B0503020204020204" charset="-122"/>
              </a:rPr>
              <a:t>统计 43 个漏检样本特征</a:t>
            </a:r>
            <a:endParaRPr lang="zh-CN" altLang="en-US" sz="2100" b="1">
              <a:solidFill>
                <a:srgbClr val="173F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21" name="EndMeta"/>
          <p:cNvSpPr txBox="1"/>
          <p:nvPr/>
        </p:nvSpPr>
        <p:spPr>
          <a:xfrm>
            <a:off x="720000" y="4680000"/>
            <a:ext cx="10764000" cy="54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ctr"/>
            <a:r>
              <a:rPr lang="zh-CN" sz="1900" b="1">
                <a:solidFill>
                  <a:srgbClr val="D6F5EE"/>
                </a:solidFill>
                <a:latin typeface="微软雅黑" panose="020B0503020204020204" charset="-122"/>
                <a:ea typeface="微软雅黑" panose="020B0503020204020204" charset="-122"/>
              </a:rPr>
              <a:t>准备回答：代码追踪 · 指标 · 失败 · 智能体贡献 · 小变化预测</a:t>
            </a:r>
            <a:endParaRPr lang="zh-CN" sz="1900" b="1">
              <a:solidFill>
                <a:srgbClr val="D6F5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WPS 演示</Application>
  <PresentationFormat/>
  <Paragraphs>38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Wingdings</vt:lpstr>
      <vt:lpstr>Calibri Light</vt:lpstr>
      <vt:lpstr>MiSans Demibold</vt:lpstr>
      <vt:lpstr>ZWSimpleStroke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OfficeCLI</dc:creator>
  <cp:lastModifiedBy>风之翼</cp:lastModifiedBy>
  <cp:revision>2</cp:revision>
  <dcterms:created xsi:type="dcterms:W3CDTF">2026-08-18T11:11:00Z</dcterms:created>
  <dcterms:modified xsi:type="dcterms:W3CDTF">2026-08-18T11:41:00Z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2026-08-11T15:35:06Z</vt:lpwstr>
  </property>
  <property fmtid="{D5CDD505-2E9C-101B-9397-08002B2CF9AE}" pid="4" name="KSOProductBuildVer">
    <vt:lpwstr>2052-12.1.0.28043</vt:lpwstr>
  </property>
  <property fmtid="{D5CDD505-2E9C-101B-9397-08002B2CF9AE}" pid="5" name="ICV">
    <vt:lpwstr>2EA6C19D49444534B5FADF5CD89D3BDB_12</vt:lpwstr>
  </property>
</Properties>
</file>